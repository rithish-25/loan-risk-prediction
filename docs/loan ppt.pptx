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3" r:id="rId4"/>
    <p:sldId id="258" r:id="rId5"/>
    <p:sldId id="262" r:id="rId6"/>
    <p:sldId id="281" r:id="rId7"/>
    <p:sldId id="272" r:id="rId8"/>
    <p:sldId id="273" r:id="rId9"/>
    <p:sldId id="274" r:id="rId10"/>
    <p:sldId id="259" r:id="rId11"/>
    <p:sldId id="282" r:id="rId12"/>
    <p:sldId id="283" r:id="rId13"/>
    <p:sldId id="284" r:id="rId14"/>
    <p:sldId id="276" r:id="rId15"/>
    <p:sldId id="280" r:id="rId16"/>
    <p:sldId id="277" r:id="rId17"/>
    <p:sldId id="279" r:id="rId18"/>
    <p:sldId id="275" r:id="rId19"/>
    <p:sldId id="269" r:id="rId20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mihMLrrBZE8aYcezI03h6WiDJ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47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0884616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0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9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1"/>
          <p:cNvGrpSpPr/>
          <p:nvPr/>
        </p:nvGrpSpPr>
        <p:grpSpPr>
          <a:xfrm>
            <a:off x="0" y="0"/>
            <a:ext cx="3067050" cy="6857998"/>
            <a:chOff x="0" y="0"/>
            <a:chExt cx="3067050" cy="6857998"/>
          </a:xfrm>
        </p:grpSpPr>
        <p:pic>
          <p:nvPicPr>
            <p:cNvPr id="49" name="Google Shape;49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3067050" cy="6857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4000" y="1338452"/>
              <a:ext cx="1479041" cy="1389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1000" y="4495812"/>
              <a:ext cx="1479041" cy="18413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" name="Google Shape;52;p1"/>
          <p:cNvSpPr txBox="1">
            <a:spLocks noGrp="1"/>
          </p:cNvSpPr>
          <p:nvPr>
            <p:ph type="title"/>
          </p:nvPr>
        </p:nvSpPr>
        <p:spPr>
          <a:xfrm>
            <a:off x="2811411" y="1249992"/>
            <a:ext cx="6312310" cy="1490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algn="ctr"/>
            <a:br>
              <a:rPr lang="en-GB" sz="2400" dirty="0"/>
            </a:br>
            <a:r>
              <a:rPr lang="en-GB" sz="2400" dirty="0"/>
              <a:t>Machine Learning-Based Credit Risk Prediction with Safe Loan Amount and EMI Recommendation</a:t>
            </a:r>
          </a:p>
        </p:txBody>
      </p:sp>
      <p:sp>
        <p:nvSpPr>
          <p:cNvPr id="53" name="Google Shape;53;p1"/>
          <p:cNvSpPr txBox="1">
            <a:spLocks noGrp="1"/>
          </p:cNvSpPr>
          <p:nvPr>
            <p:ph type="body" idx="1"/>
          </p:nvPr>
        </p:nvSpPr>
        <p:spPr>
          <a:xfrm>
            <a:off x="4699273" y="3027830"/>
            <a:ext cx="5257801" cy="2178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688975" marR="618490" lvl="0" indent="-654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dirty="0"/>
          </a:p>
          <a:p>
            <a:pPr marL="688975" marR="618490" lvl="0" indent="-654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/>
              <a:t>NAVEEN SRINIVAS </a:t>
            </a:r>
            <a:r>
              <a:rPr lang="en-US" sz="1800" b="0" dirty="0">
                <a:latin typeface="Times New Roman"/>
                <a:ea typeface="Times New Roman"/>
                <a:cs typeface="Times New Roman"/>
                <a:sym typeface="Times New Roman"/>
              </a:rPr>
              <a:t>V(23CSR145) </a:t>
            </a:r>
          </a:p>
          <a:p>
            <a:pPr marL="688975" marR="618490" lvl="0" indent="-654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/>
              <a:t>MENAHA R(23CSR130)</a:t>
            </a:r>
          </a:p>
          <a:p>
            <a:pPr marL="688975" marR="618490" indent="-65405">
              <a:lnSpc>
                <a:spcPct val="150000"/>
              </a:lnSpc>
            </a:pPr>
            <a:r>
              <a:rPr lang="en-US" sz="1800" b="0" dirty="0"/>
              <a:t>RITHISH R (23CSR178)</a:t>
            </a:r>
          </a:p>
          <a:p>
            <a:pPr marL="688975" marR="618490" lvl="0" indent="-6540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148713" y="5708177"/>
            <a:ext cx="5236209" cy="62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/>
            <a:br>
              <a:rPr lang="en-IN" sz="2000" b="1" spc="-10" dirty="0">
                <a:latin typeface="Times New Roman"/>
                <a:cs typeface="Times New Roman"/>
              </a:rPr>
            </a:br>
            <a:r>
              <a:rPr lang="en-US" sz="20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Date:12.10.2026</a:t>
            </a:r>
            <a:endParaRPr sz="20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E7438F-A02F-A33E-C1CD-C6EBF6DAF889}"/>
              </a:ext>
            </a:extLst>
          </p:cNvPr>
          <p:cNvSpPr txBox="1"/>
          <p:nvPr/>
        </p:nvSpPr>
        <p:spPr>
          <a:xfrm>
            <a:off x="5270090" y="4913193"/>
            <a:ext cx="3676650" cy="87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 GEETHA (Associate Professor)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99D430-CAF0-24B9-D35E-C967BAEF712F}"/>
              </a:ext>
            </a:extLst>
          </p:cNvPr>
          <p:cNvSpPr txBox="1"/>
          <p:nvPr/>
        </p:nvSpPr>
        <p:spPr>
          <a:xfrm>
            <a:off x="3451124" y="384015"/>
            <a:ext cx="567259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22CSP72-PROJECT WORK II PHASE II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 Review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031464" y="294175"/>
            <a:ext cx="4672602" cy="132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0000"/>
                </a:solidFill>
              </a:rPr>
              <a:t>Problem Statement</a:t>
            </a:r>
            <a:br>
              <a:rPr lang="en-US" sz="3600" dirty="0">
                <a:solidFill>
                  <a:srgbClr val="FF0000"/>
                </a:solidFill>
              </a:rPr>
            </a:b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970855" y="1621189"/>
            <a:ext cx="7715945" cy="337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dirty="0"/>
              <a:t>Existing Problem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Banks use manual checking or simple rules to evaluate loan applications.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This process takes more time and can lead to incorrect decisions.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 Risky customers may be approved, while eligible customers may be rejected.</a:t>
            </a:r>
          </a:p>
          <a:p>
            <a:pPr marL="228600" indent="0">
              <a:lnSpc>
                <a:spcPct val="150000"/>
              </a:lnSpc>
            </a:pPr>
            <a:r>
              <a:rPr lang="en-GB" sz="1800" dirty="0"/>
              <a:t>Proposed Solution: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Use Machine Learning to classify customers as Safe or Risky.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Generate a Risk Score and recommend a suitable Loan Amount and EMI.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/>
              <a:t>Provide clear reasons for the prediction to support accurate loan decisions.</a:t>
            </a:r>
            <a:endParaRPr lang="en-GB" sz="1800"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566102" y="480063"/>
            <a:ext cx="3098259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O</a:t>
            </a:r>
            <a:r>
              <a:rPr lang="en-IN" sz="3600" dirty="0" err="1">
                <a:solidFill>
                  <a:srgbClr val="FF0000"/>
                </a:solidFill>
              </a:rPr>
              <a:t>bjectives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517710" y="1203609"/>
            <a:ext cx="8563183" cy="978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endParaRPr lang="en-IN" b="0" dirty="0"/>
          </a:p>
          <a:p>
            <a:pPr marL="228600" indent="0"/>
            <a:endParaRPr lang="en-IN" b="0" dirty="0"/>
          </a:p>
          <a:p>
            <a:pPr marL="228600" indent="0"/>
            <a:endParaRPr lang="en-IN" b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036DB2-984A-52B7-B53C-55768F1C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297" y="1378256"/>
            <a:ext cx="7851058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machine learning models to predict customer loan default risk.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loan and customer financial data.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implement Random Forest,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Logistic Regression, and Gradient Boosting models.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 performance using accuracy, precision, recall, F1-score, and ROC-AUC.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best-performing model for loan default risk prediction.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safe loan amount and EMI recommendations based on the borrower's repayment capacity.</a:t>
            </a:r>
          </a:p>
        </p:txBody>
      </p:sp>
    </p:spTree>
    <p:extLst>
      <p:ext uri="{BB962C8B-B14F-4D97-AF65-F5344CB8AC3E}">
        <p14:creationId xmlns:p14="http://schemas.microsoft.com/office/powerpoint/2010/main" val="208455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006641" y="137160"/>
            <a:ext cx="4180797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L</a:t>
            </a:r>
            <a:r>
              <a:rPr lang="en-IN" sz="3600" dirty="0" err="1">
                <a:solidFill>
                  <a:srgbClr val="FF0000"/>
                </a:solidFill>
              </a:rPr>
              <a:t>iterature</a:t>
            </a:r>
            <a:r>
              <a:rPr lang="en-IN" sz="3600" dirty="0">
                <a:solidFill>
                  <a:srgbClr val="FF0000"/>
                </a:solidFill>
              </a:rPr>
              <a:t> Survey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EB99CE-EE9A-923E-F5AF-C7003C914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10019"/>
              </p:ext>
            </p:extLst>
          </p:nvPr>
        </p:nvGraphicFramePr>
        <p:xfrm>
          <a:off x="853588" y="1236674"/>
          <a:ext cx="8010940" cy="5312716"/>
        </p:xfrm>
        <a:graphic>
          <a:graphicData uri="http://schemas.openxmlformats.org/drawingml/2006/table">
            <a:tbl>
              <a:tblPr/>
              <a:tblGrid>
                <a:gridCol w="2002735">
                  <a:extLst>
                    <a:ext uri="{9D8B030D-6E8A-4147-A177-3AD203B41FA5}">
                      <a16:colId xmlns:a16="http://schemas.microsoft.com/office/drawing/2014/main" val="403370833"/>
                    </a:ext>
                  </a:extLst>
                </a:gridCol>
                <a:gridCol w="2002735">
                  <a:extLst>
                    <a:ext uri="{9D8B030D-6E8A-4147-A177-3AD203B41FA5}">
                      <a16:colId xmlns:a16="http://schemas.microsoft.com/office/drawing/2014/main" val="2857893920"/>
                    </a:ext>
                  </a:extLst>
                </a:gridCol>
                <a:gridCol w="2002735">
                  <a:extLst>
                    <a:ext uri="{9D8B030D-6E8A-4147-A177-3AD203B41FA5}">
                      <a16:colId xmlns:a16="http://schemas.microsoft.com/office/drawing/2014/main" val="4228705305"/>
                    </a:ext>
                  </a:extLst>
                </a:gridCol>
                <a:gridCol w="2002735">
                  <a:extLst>
                    <a:ext uri="{9D8B030D-6E8A-4147-A177-3AD203B41FA5}">
                      <a16:colId xmlns:a16="http://schemas.microsoft.com/office/drawing/2014/main" val="1109122155"/>
                    </a:ext>
                  </a:extLst>
                </a:gridCol>
              </a:tblGrid>
              <a:tr h="335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Author &amp; Year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Methodology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Performance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79279"/>
                  </a:ext>
                </a:extLst>
              </a:tr>
              <a:tr h="335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ML-Based Credit Scoring Models (2024)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Logistic Regression, Random Forest, </a:t>
                      </a:r>
                      <a:r>
                        <a:rPr lang="en-IN" dirty="0" err="1"/>
                        <a:t>XGBoost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85–92%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explainability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395469"/>
                  </a:ext>
                </a:extLst>
              </a:tr>
              <a:tr h="1165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Credit Risk Prediction Using ML (2024)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Support Vector Machine, 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AUC 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loan recommendation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015552"/>
                  </a:ext>
                </a:extLst>
              </a:tr>
              <a:tr h="1165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Explainable AI for Loan Approval (2025)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XGBoost, SHAP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90%+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real-time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76091"/>
                  </a:ext>
                </a:extLst>
              </a:tr>
              <a:tr h="102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Banking Risk Analysis Using ML (2024)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Regression, Neural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87–91%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EMI recommendation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730787"/>
                  </a:ext>
                </a:extLst>
              </a:tr>
              <a:tr h="888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Hybrid Loan Default Prediction (2025)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XGBoost</a:t>
                      </a:r>
                      <a:r>
                        <a:rPr lang="en-IN" dirty="0"/>
                        <a:t>, SHAP, Topological Data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ROC-AUC 0.973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to maritime 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18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547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286093" y="590799"/>
            <a:ext cx="496178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dirty="0">
                <a:solidFill>
                  <a:srgbClr val="FF0000"/>
                </a:solidFill>
              </a:rPr>
              <a:t>Research Gap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FE50B3E-8164-E04E-8E32-3BC41866D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503" y="1363815"/>
            <a:ext cx="8401377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studies only predict whether a customer will repay the loan or not.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do not recommend a suitable loan amount or EMI based on the customer's financial condition.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models focus only on improving accuracy and provide limited explanation for their predictions.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user-friendly system that combines risk prediction, risk score, loan recommendation, and explainable results in one platform.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364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E437FE-2426-60A9-5DD1-DD1324B11D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F32B5-C599-AC10-5322-01F9D1F988DB}"/>
              </a:ext>
            </a:extLst>
          </p:cNvPr>
          <p:cNvSpPr txBox="1"/>
          <p:nvPr/>
        </p:nvSpPr>
        <p:spPr>
          <a:xfrm>
            <a:off x="3618271" y="316563"/>
            <a:ext cx="4355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749DBF-9EB9-D09B-0493-0089A248C913}"/>
              </a:ext>
            </a:extLst>
          </p:cNvPr>
          <p:cNvSpPr txBox="1"/>
          <p:nvPr/>
        </p:nvSpPr>
        <p:spPr>
          <a:xfrm>
            <a:off x="1666568" y="778228"/>
            <a:ext cx="6415548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Identification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Logistic Regression, and Gradient Boosting Model Training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Evaluation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Risk Prediction &amp; Risk Score Generation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SHAP-Based Explainability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Loan Amount Recommendation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EMI Recommendation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Web Application Integration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</p:txBody>
      </p:sp>
    </p:spTree>
    <p:extLst>
      <p:ext uri="{BB962C8B-B14F-4D97-AF65-F5344CB8AC3E}">
        <p14:creationId xmlns:p14="http://schemas.microsoft.com/office/powerpoint/2010/main" val="1542424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6C1CC8-AFDC-0649-6EA4-8BA5A7D5B3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59E12A-55F9-F69A-CF92-6CF8A642BB2F}"/>
              </a:ext>
            </a:extLst>
          </p:cNvPr>
          <p:cNvSpPr txBox="1"/>
          <p:nvPr/>
        </p:nvSpPr>
        <p:spPr>
          <a:xfrm>
            <a:off x="2851354" y="372149"/>
            <a:ext cx="4945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A48B70-D868-66F7-CE27-4158C36F02B1}"/>
              </a:ext>
            </a:extLst>
          </p:cNvPr>
          <p:cNvSpPr txBox="1"/>
          <p:nvPr/>
        </p:nvSpPr>
        <p:spPr>
          <a:xfrm>
            <a:off x="982147" y="956924"/>
            <a:ext cx="796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Credit Risk Prediction System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2C7F86-4A84-AA39-B689-8A3E58215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28" y="1828800"/>
            <a:ext cx="8105781" cy="444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09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27EE3C-CB3B-647E-8AFD-E8580E9761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BC06E-B8F5-40D8-A196-220C9DE03069}"/>
              </a:ext>
            </a:extLst>
          </p:cNvPr>
          <p:cNvSpPr txBox="1"/>
          <p:nvPr/>
        </p:nvSpPr>
        <p:spPr>
          <a:xfrm>
            <a:off x="1877960" y="612830"/>
            <a:ext cx="10078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roposed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 with Planned Innovation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569BF-740B-53A3-5577-923D98A2B35F}"/>
              </a:ext>
            </a:extLst>
          </p:cNvPr>
          <p:cNvSpPr txBox="1"/>
          <p:nvPr/>
        </p:nvSpPr>
        <p:spPr>
          <a:xfrm>
            <a:off x="934064" y="1297858"/>
            <a:ext cx="7973962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Innovation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Explainable AI system using SHAP to explain loan prediction results.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customer credit risk using machine learning algorithms.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a safe loan amount based on the customer's financial profile.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suitable EMI plans based on repayment capacity.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 application for real-time loan risk prediction.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loan decisions by considering risk, eligibility, and affordability.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Random Forest,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Logistic Regression, and Gradient Boosting models.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using accuracy, precision, recall, F1-score, and ROC-AUC to identify the best-performing model.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hyperparameter tuning to improve model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5810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EC35DE-C97A-898F-F072-CD519FC8A0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3320C3-F531-BBAB-7C8C-3287CDF759DB}"/>
              </a:ext>
            </a:extLst>
          </p:cNvPr>
          <p:cNvSpPr txBox="1"/>
          <p:nvPr/>
        </p:nvSpPr>
        <p:spPr>
          <a:xfrm>
            <a:off x="2713703" y="563416"/>
            <a:ext cx="5338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15D1-0275-1AAD-757B-DD1FFA12AE48}"/>
              </a:ext>
            </a:extLst>
          </p:cNvPr>
          <p:cNvSpPr txBox="1"/>
          <p:nvPr/>
        </p:nvSpPr>
        <p:spPr>
          <a:xfrm>
            <a:off x="1307690" y="1484671"/>
            <a:ext cx="6322142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Dataset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Data Preprocessing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Feature Engineering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Machine Learning Model Training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Credit Risk Prediction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 – SHAP Explainability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7 – Loan Amount &amp; EMI Recommendation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8 – Web Application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9 – Performance Evaluation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10 – Result Analysis</a:t>
            </a:r>
          </a:p>
        </p:txBody>
      </p:sp>
    </p:spTree>
    <p:extLst>
      <p:ext uri="{BB962C8B-B14F-4D97-AF65-F5344CB8AC3E}">
        <p14:creationId xmlns:p14="http://schemas.microsoft.com/office/powerpoint/2010/main" val="776722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368825" y="457009"/>
            <a:ext cx="282432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dirty="0">
                <a:solidFill>
                  <a:srgbClr val="FF0000"/>
                </a:solidFill>
              </a:rPr>
              <a:t>M</a:t>
            </a:r>
            <a:r>
              <a:rPr lang="en-IN" dirty="0" err="1">
                <a:solidFill>
                  <a:srgbClr val="FF0000"/>
                </a:solidFill>
              </a:rPr>
              <a:t>ethodology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848741" y="1505670"/>
            <a:ext cx="6375943" cy="4487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228600" indent="0"/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Dataset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Forest,XGBoost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Training,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Logistic Regression, and Gradient Boosting models.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Prediction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Analysis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&amp; EMI Recommendation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1678992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EFF1A3-37D2-B79B-FD64-AD98E4714E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33FEF0-0CC5-8E4F-58F1-459BC28AAEDE}"/>
              </a:ext>
            </a:extLst>
          </p:cNvPr>
          <p:cNvSpPr txBox="1"/>
          <p:nvPr/>
        </p:nvSpPr>
        <p:spPr>
          <a:xfrm>
            <a:off x="3161563" y="240376"/>
            <a:ext cx="4227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</a:t>
            </a:r>
            <a:r>
              <a:rPr lang="en-IN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Comparision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59B4E3A-FE0A-9FF9-8DAC-39C2FDCF7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104444"/>
              </p:ext>
            </p:extLst>
          </p:nvPr>
        </p:nvGraphicFramePr>
        <p:xfrm>
          <a:off x="1445702" y="1071716"/>
          <a:ext cx="7000209" cy="4757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3403">
                  <a:extLst>
                    <a:ext uri="{9D8B030D-6E8A-4147-A177-3AD203B41FA5}">
                      <a16:colId xmlns:a16="http://schemas.microsoft.com/office/drawing/2014/main" val="2657271857"/>
                    </a:ext>
                  </a:extLst>
                </a:gridCol>
                <a:gridCol w="2333403">
                  <a:extLst>
                    <a:ext uri="{9D8B030D-6E8A-4147-A177-3AD203B41FA5}">
                      <a16:colId xmlns:a16="http://schemas.microsoft.com/office/drawing/2014/main" val="787511927"/>
                    </a:ext>
                  </a:extLst>
                </a:gridCol>
                <a:gridCol w="2333403">
                  <a:extLst>
                    <a:ext uri="{9D8B030D-6E8A-4147-A177-3AD203B41FA5}">
                      <a16:colId xmlns:a16="http://schemas.microsoft.com/office/drawing/2014/main" val="2153857275"/>
                    </a:ext>
                  </a:extLst>
                </a:gridCol>
              </a:tblGrid>
              <a:tr h="516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Feature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Baseline System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Our Proposed System</a:t>
                      </a:r>
                    </a:p>
                  </a:txBody>
                  <a:tcPr marL="35494" marR="35494" marT="17747" marB="17747" anchor="ctr"/>
                </a:tc>
                <a:extLst>
                  <a:ext uri="{0D108BD9-81ED-4DB2-BD59-A6C34878D82A}">
                    <a16:rowId xmlns:a16="http://schemas.microsoft.com/office/drawing/2014/main" val="2425000737"/>
                  </a:ext>
                </a:extLst>
              </a:tr>
              <a:tr h="516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Risk Prediction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Default prediction only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Safe / Risky prediction</a:t>
                      </a:r>
                    </a:p>
                  </a:txBody>
                  <a:tcPr marL="35494" marR="35494" marT="17747" marB="17747" anchor="ctr"/>
                </a:tc>
                <a:extLst>
                  <a:ext uri="{0D108BD9-81ED-4DB2-BD59-A6C34878D82A}">
                    <a16:rowId xmlns:a16="http://schemas.microsoft.com/office/drawing/2014/main" val="1709219619"/>
                  </a:ext>
                </a:extLst>
              </a:tr>
              <a:tr h="516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ML Models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Single model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Logistic Regression, and Gradient Boosting models</a:t>
                      </a:r>
                      <a:endParaRPr lang="en-IN" sz="1200" dirty="0"/>
                    </a:p>
                  </a:txBody>
                  <a:tcPr marL="35494" marR="35494" marT="17747" marB="17747" anchor="ctr"/>
                </a:tc>
                <a:extLst>
                  <a:ext uri="{0D108BD9-81ED-4DB2-BD59-A6C34878D82A}">
                    <a16:rowId xmlns:a16="http://schemas.microsoft.com/office/drawing/2014/main" val="678912313"/>
                  </a:ext>
                </a:extLst>
              </a:tr>
              <a:tr h="39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Evaluation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Limited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Multiple metrics</a:t>
                      </a:r>
                    </a:p>
                  </a:txBody>
                  <a:tcPr marL="35494" marR="35494" marT="17747" marB="17747" anchor="ctr"/>
                </a:tc>
                <a:extLst>
                  <a:ext uri="{0D108BD9-81ED-4DB2-BD59-A6C34878D82A}">
                    <a16:rowId xmlns:a16="http://schemas.microsoft.com/office/drawing/2014/main" val="3551389103"/>
                  </a:ext>
                </a:extLst>
              </a:tr>
              <a:tr h="39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Risk Score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Not available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Risk score generation</a:t>
                      </a:r>
                    </a:p>
                  </a:txBody>
                  <a:tcPr marL="35494" marR="35494" marT="17747" marB="17747" anchor="ctr"/>
                </a:tc>
                <a:extLst>
                  <a:ext uri="{0D108BD9-81ED-4DB2-BD59-A6C34878D82A}">
                    <a16:rowId xmlns:a16="http://schemas.microsoft.com/office/drawing/2014/main" val="4221300277"/>
                  </a:ext>
                </a:extLst>
              </a:tr>
              <a:tr h="39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Explainability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Limited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SHAP explainability</a:t>
                      </a:r>
                    </a:p>
                  </a:txBody>
                  <a:tcPr marL="35494" marR="35494" marT="17747" marB="17747" anchor="ctr"/>
                </a:tc>
                <a:extLst>
                  <a:ext uri="{0D108BD9-81ED-4DB2-BD59-A6C34878D82A}">
                    <a16:rowId xmlns:a16="http://schemas.microsoft.com/office/drawing/2014/main" val="868115108"/>
                  </a:ext>
                </a:extLst>
              </a:tr>
              <a:tr h="516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Loan Amount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Not available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Safe loan recommendation</a:t>
                      </a:r>
                    </a:p>
                  </a:txBody>
                  <a:tcPr marL="35494" marR="35494" marT="17747" marB="17747" anchor="ctr"/>
                </a:tc>
                <a:extLst>
                  <a:ext uri="{0D108BD9-81ED-4DB2-BD59-A6C34878D82A}">
                    <a16:rowId xmlns:a16="http://schemas.microsoft.com/office/drawing/2014/main" val="84693998"/>
                  </a:ext>
                </a:extLst>
              </a:tr>
              <a:tr h="39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EMI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Not available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Personalized EMI</a:t>
                      </a:r>
                    </a:p>
                  </a:txBody>
                  <a:tcPr marL="35494" marR="35494" marT="17747" marB="17747" anchor="ctr"/>
                </a:tc>
                <a:extLst>
                  <a:ext uri="{0D108BD9-81ED-4DB2-BD59-A6C34878D82A}">
                    <a16:rowId xmlns:a16="http://schemas.microsoft.com/office/drawing/2014/main" val="3320881089"/>
                  </a:ext>
                </a:extLst>
              </a:tr>
              <a:tr h="516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Interface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Limited/Offline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Real-time web application</a:t>
                      </a:r>
                    </a:p>
                  </a:txBody>
                  <a:tcPr marL="35494" marR="35494" marT="17747" marB="17747" anchor="ctr"/>
                </a:tc>
                <a:extLst>
                  <a:ext uri="{0D108BD9-81ED-4DB2-BD59-A6C34878D82A}">
                    <a16:rowId xmlns:a16="http://schemas.microsoft.com/office/drawing/2014/main" val="3652612152"/>
                  </a:ext>
                </a:extLst>
              </a:tr>
              <a:tr h="516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Decision Support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Prediction only</a:t>
                      </a:r>
                    </a:p>
                  </a:txBody>
                  <a:tcPr marL="35494" marR="35494" marT="17747" marB="177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Risk and Eligibility</a:t>
                      </a:r>
                    </a:p>
                  </a:txBody>
                  <a:tcPr marL="35494" marR="35494" marT="17747" marB="17747" anchor="ctr"/>
                </a:tc>
                <a:extLst>
                  <a:ext uri="{0D108BD9-81ED-4DB2-BD59-A6C34878D82A}">
                    <a16:rowId xmlns:a16="http://schemas.microsoft.com/office/drawing/2014/main" val="3507687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9879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60F860-E5C7-EED4-D35A-3C8D658047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B138D-895D-7D1E-241D-88A679727001}"/>
              </a:ext>
            </a:extLst>
          </p:cNvPr>
          <p:cNvSpPr txBox="1"/>
          <p:nvPr/>
        </p:nvSpPr>
        <p:spPr>
          <a:xfrm>
            <a:off x="1278193" y="639096"/>
            <a:ext cx="9006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Complexity &amp; Cost, Relevance to 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Environment,Sustainability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750A7-8CD7-2D14-538C-852044FD956A}"/>
              </a:ext>
            </a:extLst>
          </p:cNvPr>
          <p:cNvSpPr txBox="1"/>
          <p:nvPr/>
        </p:nvSpPr>
        <p:spPr>
          <a:xfrm>
            <a:off x="1111045" y="1347019"/>
            <a:ext cx="7049729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&amp; Cost: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automates loan risk analysis, reducing manual work and effort. </a:t>
            </a:r>
          </a:p>
          <a:p>
            <a:pPr lvl="0"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Environment: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web-based system reduces the need for paper-based loan processing. </a:t>
            </a:r>
          </a:p>
          <a:p>
            <a:pPr lvl="0"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digital solution supports efficient, paperless, and long-term loan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3088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BF6A82-32F4-24CB-2156-14B5A3E976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E0E88A-F632-BA96-F0E1-00584388E5EE}"/>
              </a:ext>
            </a:extLst>
          </p:cNvPr>
          <p:cNvSpPr txBox="1"/>
          <p:nvPr/>
        </p:nvSpPr>
        <p:spPr>
          <a:xfrm>
            <a:off x="2890683" y="580103"/>
            <a:ext cx="5034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Goals Mapping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6A2B6-221C-A930-B2FA-9E8879687209}"/>
              </a:ext>
            </a:extLst>
          </p:cNvPr>
          <p:cNvSpPr txBox="1"/>
          <p:nvPr/>
        </p:nvSpPr>
        <p:spPr>
          <a:xfrm>
            <a:off x="1032387" y="1484671"/>
            <a:ext cx="7305368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600" b="1" dirty="0"/>
              <a:t>SDG 1 </a:t>
            </a:r>
            <a:r>
              <a:rPr lang="en-IN" sz="1600" dirty="0"/>
              <a:t>– No Poverty</a:t>
            </a:r>
            <a:r>
              <a:rPr lang="en-IN" sz="1600" b="1" dirty="0"/>
              <a:t>:</a:t>
            </a:r>
            <a:r>
              <a:rPr lang="en-IN" sz="1600" dirty="0"/>
              <a:t> Helps users choose affordable loans and avoid excessive financial burden.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/>
              <a:t>SDG 8 – </a:t>
            </a:r>
            <a:r>
              <a:rPr lang="en-IN" sz="1600" dirty="0"/>
              <a:t>Decent Work and Economic Growth</a:t>
            </a:r>
            <a:r>
              <a:rPr lang="en-IN" sz="1600" b="1" dirty="0"/>
              <a:t>:</a:t>
            </a:r>
            <a:r>
              <a:rPr lang="en-IN" sz="1600" dirty="0"/>
              <a:t> Improves efficient and responsible financial decision-making.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/>
              <a:t>SDG 9 – </a:t>
            </a:r>
            <a:r>
              <a:rPr lang="en-IN" sz="1600" dirty="0"/>
              <a:t>Industry, Innovation and Infrastructure: Uses ML and web technology for innovative credit-risk assessment.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/>
              <a:t>SDG 10 – </a:t>
            </a:r>
            <a:r>
              <a:rPr lang="en-IN" sz="1600" dirty="0"/>
              <a:t>Reduced Inequalities</a:t>
            </a:r>
            <a:r>
              <a:rPr lang="en-IN" sz="1600" b="1" dirty="0"/>
              <a:t>:</a:t>
            </a:r>
            <a:r>
              <a:rPr lang="en-IN" sz="1600" dirty="0"/>
              <a:t> Provides consistent, data-driven loan-risk evaluation. </a:t>
            </a:r>
          </a:p>
          <a:p>
            <a:pPr lvl="0" algn="just">
              <a:lnSpc>
                <a:spcPct val="150000"/>
              </a:lnSpc>
            </a:pPr>
            <a:r>
              <a:rPr lang="en-IN" sz="1600" b="1" dirty="0"/>
              <a:t>SDG 12 – </a:t>
            </a:r>
            <a:r>
              <a:rPr lang="en-IN" sz="1600" dirty="0"/>
              <a:t>Responsible Consumption and </a:t>
            </a:r>
            <a:r>
              <a:rPr lang="en-IN" sz="1600" dirty="0" err="1"/>
              <a:t>Production:Supports</a:t>
            </a:r>
            <a:r>
              <a:rPr lang="en-IN" sz="1600" dirty="0"/>
              <a:t> environmentally friendly loan processing.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7555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A4AB26-CA76-7034-0333-773A3C9A3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B6A57D-E156-F868-D66D-A3C4ABE39770}"/>
              </a:ext>
            </a:extLst>
          </p:cNvPr>
          <p:cNvSpPr txBox="1"/>
          <p:nvPr/>
        </p:nvSpPr>
        <p:spPr>
          <a:xfrm>
            <a:off x="3200891" y="324605"/>
            <a:ext cx="4611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61920-6B67-F59A-2D67-9F175628F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022" y="1780560"/>
            <a:ext cx="6551404" cy="329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805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EC8FCC-0A14-DDA2-86C6-405CD89180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80DF64-8C43-FF6E-A317-90598382F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09" y="1046520"/>
            <a:ext cx="7708491" cy="433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72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23A886-94FD-7EE1-0618-58650D116F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8D12FB-3EB2-0CA2-4233-E7B40445D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06" y="980881"/>
            <a:ext cx="7350997" cy="439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36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3337A6-A0DE-F9E3-1199-4A79A0E2B6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655CBF-29B5-AEE3-918E-8350C9FE9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16" y="1022554"/>
            <a:ext cx="8006760" cy="446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36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477679-608A-3065-FE94-768B9D6F11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8884B5-405E-4B8C-A9D7-939CAA8CE049}"/>
              </a:ext>
            </a:extLst>
          </p:cNvPr>
          <p:cNvSpPr txBox="1"/>
          <p:nvPr/>
        </p:nvSpPr>
        <p:spPr>
          <a:xfrm>
            <a:off x="2640452" y="442451"/>
            <a:ext cx="4680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Documentation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DDA046-ECA4-BDE8-9DB3-E69842F66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438" y="1447036"/>
            <a:ext cx="7494362" cy="421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93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426253" y="2579887"/>
            <a:ext cx="515855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spc="-40" dirty="0"/>
              <a:t>THANK</a:t>
            </a:r>
            <a:r>
              <a:rPr lang="en-IN" spc="-190" dirty="0"/>
              <a:t> </a:t>
            </a:r>
            <a:r>
              <a:rPr lang="en-IN" spc="-20" dirty="0"/>
              <a:t>YOU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490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966</Words>
  <Application>Microsoft Office PowerPoint</Application>
  <PresentationFormat>On-screen Show (4:3)</PresentationFormat>
  <Paragraphs>152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 Machine Learning-Based Credit Risk Prediction with Safe Loan Amount and EMI Recommendation</vt:lpstr>
      <vt:lpstr>Problem Statement </vt:lpstr>
      <vt:lpstr>Objectives</vt:lpstr>
      <vt:lpstr>Literature Survey</vt:lpstr>
      <vt:lpstr>Research Gap</vt:lpstr>
      <vt:lpstr>PowerPoint Presentation</vt:lpstr>
      <vt:lpstr>PowerPoint Presentation</vt:lpstr>
      <vt:lpstr>PowerPoint Presentation</vt:lpstr>
      <vt:lpstr>PowerPoint Presentation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Deployment of E-Commerce Web Application using Jenkins and Kubernetes</dc:title>
  <dc:creator>Bhobesh adhithiyan</dc:creator>
  <cp:lastModifiedBy>DIVYA PRASANTH</cp:lastModifiedBy>
  <cp:revision>65</cp:revision>
  <dcterms:created xsi:type="dcterms:W3CDTF">2025-02-28T03:17:42Z</dcterms:created>
  <dcterms:modified xsi:type="dcterms:W3CDTF">2026-10-11T06:54:52Z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2021</vt:lpwstr>
  </property>
</Properties>
</file>